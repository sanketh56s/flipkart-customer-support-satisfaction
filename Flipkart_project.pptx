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954"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5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25880"/>
            <a:ext cx="10241280" cy="1463040"/>
          </a:xfrm>
          <a:prstGeom prst="rect">
            <a:avLst/>
          </a:prstGeom>
          <a:noFill/>
        </p:spPr>
        <p:txBody>
          <a:bodyPr wrap="none">
            <a:spAutoFit/>
          </a:bodyPr>
          <a:lstStyle/>
          <a:p>
            <a:pPr>
              <a:defRPr sz="3400" b="1">
                <a:solidFill>
                  <a:srgbClr val="FFFFFF"/>
                </a:solidFill>
              </a:defRPr>
            </a:pPr>
            <a:r>
              <a:t>Flipkart Project</a:t>
            </a:r>
          </a:p>
          <a:p>
            <a:pPr>
              <a:spcBef>
                <a:spcPts val="1200"/>
              </a:spcBef>
              <a:defRPr sz="2000">
                <a:solidFill>
                  <a:srgbClr val="CCDCE2"/>
                </a:solidFill>
              </a:defRPr>
            </a:pPr>
            <a:r>
              <a:t>CSAT • Service Channels • Agent Performance • Response Time</a:t>
            </a:r>
          </a:p>
        </p:txBody>
      </p:sp>
      <p:sp>
        <p:nvSpPr>
          <p:cNvPr id="5" name="TextBox 4"/>
          <p:cNvSpPr txBox="1"/>
          <p:nvPr/>
        </p:nvSpPr>
        <p:spPr>
          <a:xfrm>
            <a:off x="841248" y="3657600"/>
            <a:ext cx="9875520" cy="914400"/>
          </a:xfrm>
          <a:prstGeom prst="rect">
            <a:avLst/>
          </a:prstGeom>
          <a:noFill/>
        </p:spPr>
        <p:txBody>
          <a:bodyPr wrap="none">
            <a:spAutoFit/>
          </a:bodyPr>
          <a:lstStyle/>
          <a:p>
            <a:pPr>
              <a:defRPr sz="1800" b="1">
                <a:solidFill>
                  <a:srgbClr val="E0AB3F"/>
                </a:solidFill>
              </a:defRPr>
            </a:pPr>
            <a:r>
              <a:t>EDA &amp; Business Insights</a:t>
            </a:r>
          </a:p>
          <a:p>
            <a:pPr>
              <a:defRPr sz="1200">
                <a:solidFill>
                  <a:srgbClr val="FFFFFF"/>
                </a:solidFill>
              </a:defRPr>
            </a:pPr>
            <a:r>
              <a:t>Based on the submitted ML capstone notebook and its visual analysis</a:t>
            </a:r>
          </a:p>
        </p:txBody>
      </p:sp>
      <p:sp>
        <p:nvSpPr>
          <p:cNvPr id="7" name="TextBox 6">
            <a:extLst>
              <a:ext uri="{FF2B5EF4-FFF2-40B4-BE49-F238E27FC236}">
                <a16:creationId xmlns:a16="http://schemas.microsoft.com/office/drawing/2014/main" id="{9E5E6D80-56BA-5560-7304-28BDB2ADF4F7}"/>
              </a:ext>
            </a:extLst>
          </p:cNvPr>
          <p:cNvSpPr txBox="1"/>
          <p:nvPr/>
        </p:nvSpPr>
        <p:spPr>
          <a:xfrm>
            <a:off x="8718280" y="5961462"/>
            <a:ext cx="3243872" cy="400110"/>
          </a:xfrm>
          <a:prstGeom prst="rect">
            <a:avLst/>
          </a:prstGeom>
          <a:noFill/>
        </p:spPr>
        <p:txBody>
          <a:bodyPr wrap="square" rtlCol="0">
            <a:spAutoFit/>
          </a:bodyPr>
          <a:lstStyle/>
          <a:p>
            <a:r>
              <a:rPr lang="en-IN" sz="2000" dirty="0">
                <a:solidFill>
                  <a:schemeClr val="bg1"/>
                </a:solidFill>
              </a:rPr>
              <a:t>Submitted By: SANKETH 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Executive Summary</a:t>
            </a:r>
          </a:p>
        </p:txBody>
      </p:sp>
      <p:sp>
        <p:nvSpPr>
          <p:cNvPr id="4" name="TextBox 3"/>
          <p:cNvSpPr txBox="1"/>
          <p:nvPr/>
        </p:nvSpPr>
        <p:spPr>
          <a:xfrm>
            <a:off x="621792" y="914400"/>
            <a:ext cx="10789920" cy="365760"/>
          </a:xfrm>
          <a:prstGeom prst="rect">
            <a:avLst/>
          </a:prstGeom>
          <a:noFill/>
        </p:spPr>
        <p:txBody>
          <a:bodyPr wrap="none">
            <a:spAutoFit/>
          </a:bodyPr>
          <a:lstStyle/>
          <a:p>
            <a:pPr>
              <a:defRPr sz="1100">
                <a:solidFill>
                  <a:srgbClr val="5D6978"/>
                </a:solidFill>
              </a:defRPr>
            </a:pPr>
            <a:r>
              <a:t>What the analysis says at a glance</a:t>
            </a:r>
          </a:p>
        </p:txBody>
      </p:sp>
      <p:sp>
        <p:nvSpPr>
          <p:cNvPr id="5" name="Rounded Rectangle 4"/>
          <p:cNvSpPr/>
          <p:nvPr/>
        </p:nvSpPr>
        <p:spPr>
          <a:xfrm>
            <a:off x="640080" y="1417320"/>
            <a:ext cx="342900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41732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563624"/>
            <a:ext cx="3063240" cy="320040"/>
          </a:xfrm>
          <a:prstGeom prst="rect">
            <a:avLst/>
          </a:prstGeom>
          <a:noFill/>
        </p:spPr>
        <p:txBody>
          <a:bodyPr wrap="none">
            <a:spAutoFit/>
          </a:bodyPr>
          <a:lstStyle/>
          <a:p>
            <a:pPr>
              <a:defRPr sz="1400" b="1">
                <a:solidFill>
                  <a:srgbClr val="152238"/>
                </a:solidFill>
              </a:defRPr>
            </a:pPr>
            <a:r>
              <a:t>Customer satisfaction</a:t>
            </a:r>
          </a:p>
        </p:txBody>
      </p:sp>
      <p:sp>
        <p:nvSpPr>
          <p:cNvPr id="8" name="TextBox 7"/>
          <p:cNvSpPr txBox="1"/>
          <p:nvPr/>
        </p:nvSpPr>
        <p:spPr>
          <a:xfrm>
            <a:off x="841247" y="1984248"/>
            <a:ext cx="3063240" cy="704088"/>
          </a:xfrm>
          <a:prstGeom prst="rect">
            <a:avLst/>
          </a:prstGeom>
          <a:noFill/>
        </p:spPr>
        <p:txBody>
          <a:bodyPr wrap="square">
            <a:spAutoFit/>
          </a:bodyPr>
          <a:lstStyle/>
          <a:p>
            <a:pPr>
              <a:defRPr sz="1100">
                <a:solidFill>
                  <a:srgbClr val="232A32"/>
                </a:solidFill>
              </a:defRPr>
            </a:pPr>
            <a:r>
              <a:t>CSAT 5 is the dominant rating, with 4 the next-largest group. The low-score segment remains an important improvement opportunity.</a:t>
            </a:r>
          </a:p>
        </p:txBody>
      </p:sp>
      <p:sp>
        <p:nvSpPr>
          <p:cNvPr id="9" name="Rounded Rectangle 8"/>
          <p:cNvSpPr/>
          <p:nvPr/>
        </p:nvSpPr>
        <p:spPr>
          <a:xfrm>
            <a:off x="4389120" y="1417320"/>
            <a:ext cx="342900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89120" y="1417320"/>
            <a:ext cx="73152" cy="141732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90288" y="1563624"/>
            <a:ext cx="3063240" cy="320040"/>
          </a:xfrm>
          <a:prstGeom prst="rect">
            <a:avLst/>
          </a:prstGeom>
          <a:noFill/>
        </p:spPr>
        <p:txBody>
          <a:bodyPr wrap="none">
            <a:spAutoFit/>
          </a:bodyPr>
          <a:lstStyle/>
          <a:p>
            <a:pPr>
              <a:defRPr sz="1400" b="1">
                <a:solidFill>
                  <a:srgbClr val="152238"/>
                </a:solidFill>
              </a:defRPr>
            </a:pPr>
            <a:r>
              <a:t>Channel concentration</a:t>
            </a:r>
          </a:p>
        </p:txBody>
      </p:sp>
      <p:sp>
        <p:nvSpPr>
          <p:cNvPr id="12" name="TextBox 11"/>
          <p:cNvSpPr txBox="1"/>
          <p:nvPr/>
        </p:nvSpPr>
        <p:spPr>
          <a:xfrm>
            <a:off x="4590288" y="1984248"/>
            <a:ext cx="3063240" cy="704088"/>
          </a:xfrm>
          <a:prstGeom prst="rect">
            <a:avLst/>
          </a:prstGeom>
          <a:noFill/>
        </p:spPr>
        <p:txBody>
          <a:bodyPr wrap="square">
            <a:spAutoFit/>
          </a:bodyPr>
          <a:lstStyle/>
          <a:p>
            <a:pPr>
              <a:defRPr sz="1100">
                <a:solidFill>
                  <a:srgbClr val="232A32"/>
                </a:solidFill>
              </a:defRPr>
            </a:pPr>
            <a:r>
              <a:t>Inbound accounts for about 79.3% of interactions, making it the highest-impact channel for operational improvements.</a:t>
            </a:r>
          </a:p>
        </p:txBody>
      </p:sp>
      <p:sp>
        <p:nvSpPr>
          <p:cNvPr id="13" name="Rounded Rectangle 12"/>
          <p:cNvSpPr/>
          <p:nvPr/>
        </p:nvSpPr>
        <p:spPr>
          <a:xfrm>
            <a:off x="8138160" y="1417320"/>
            <a:ext cx="342900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41732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9328" y="1563624"/>
            <a:ext cx="3063240" cy="320040"/>
          </a:xfrm>
          <a:prstGeom prst="rect">
            <a:avLst/>
          </a:prstGeom>
          <a:noFill/>
        </p:spPr>
        <p:txBody>
          <a:bodyPr wrap="none">
            <a:spAutoFit/>
          </a:bodyPr>
          <a:lstStyle/>
          <a:p>
            <a:pPr>
              <a:defRPr sz="1400" b="1">
                <a:solidFill>
                  <a:srgbClr val="152238"/>
                </a:solidFill>
              </a:defRPr>
            </a:pPr>
            <a:r>
              <a:t>Speed matters</a:t>
            </a:r>
          </a:p>
        </p:txBody>
      </p:sp>
      <p:sp>
        <p:nvSpPr>
          <p:cNvPr id="16" name="TextBox 15"/>
          <p:cNvSpPr txBox="1"/>
          <p:nvPr/>
        </p:nvSpPr>
        <p:spPr>
          <a:xfrm>
            <a:off x="8339328" y="1984248"/>
            <a:ext cx="3063240" cy="704088"/>
          </a:xfrm>
          <a:prstGeom prst="rect">
            <a:avLst/>
          </a:prstGeom>
          <a:noFill/>
        </p:spPr>
        <p:txBody>
          <a:bodyPr wrap="square">
            <a:spAutoFit/>
          </a:bodyPr>
          <a:lstStyle/>
          <a:p>
            <a:pPr>
              <a:defRPr sz="1100">
                <a:solidFill>
                  <a:srgbClr val="232A32"/>
                </a:solidFill>
              </a:defRPr>
            </a:pPr>
            <a:r>
              <a:t>The notebook reports a significant negative association between time difference and CSAT (rho ≈ -0.178).</a:t>
            </a:r>
          </a:p>
        </p:txBody>
      </p:sp>
      <p:sp>
        <p:nvSpPr>
          <p:cNvPr id="17" name="Rounded Rectangle 16"/>
          <p:cNvSpPr/>
          <p:nvPr/>
        </p:nvSpPr>
        <p:spPr>
          <a:xfrm>
            <a:off x="640080" y="3154680"/>
            <a:ext cx="342900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154680"/>
            <a:ext cx="73152" cy="141732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7" y="3300984"/>
            <a:ext cx="3063240" cy="320040"/>
          </a:xfrm>
          <a:prstGeom prst="rect">
            <a:avLst/>
          </a:prstGeom>
          <a:noFill/>
        </p:spPr>
        <p:txBody>
          <a:bodyPr wrap="none">
            <a:spAutoFit/>
          </a:bodyPr>
          <a:lstStyle/>
          <a:p>
            <a:pPr>
              <a:defRPr sz="1400" b="1">
                <a:solidFill>
                  <a:srgbClr val="152238"/>
                </a:solidFill>
              </a:defRPr>
            </a:pPr>
            <a:r>
              <a:t>People &amp; shifts</a:t>
            </a:r>
          </a:p>
        </p:txBody>
      </p:sp>
      <p:sp>
        <p:nvSpPr>
          <p:cNvPr id="20" name="TextBox 19"/>
          <p:cNvSpPr txBox="1"/>
          <p:nvPr/>
        </p:nvSpPr>
        <p:spPr>
          <a:xfrm>
            <a:off x="841247" y="3721608"/>
            <a:ext cx="3063240" cy="704088"/>
          </a:xfrm>
          <a:prstGeom prst="rect">
            <a:avLst/>
          </a:prstGeom>
          <a:noFill/>
        </p:spPr>
        <p:txBody>
          <a:bodyPr wrap="square">
            <a:spAutoFit/>
          </a:bodyPr>
          <a:lstStyle/>
          <a:p>
            <a:pPr>
              <a:defRPr sz="1100">
                <a:solidFill>
                  <a:srgbClr val="232A32"/>
                </a:solidFill>
              </a:defRPr>
            </a:pPr>
            <a:r>
              <a:t>CSAT varies by shift and manager, while staffing is concentrated in Morning and Evening shifts.</a:t>
            </a:r>
          </a:p>
        </p:txBody>
      </p:sp>
      <p:sp>
        <p:nvSpPr>
          <p:cNvPr id="21" name="Rounded Rectangle 20"/>
          <p:cNvSpPr/>
          <p:nvPr/>
        </p:nvSpPr>
        <p:spPr>
          <a:xfrm>
            <a:off x="4389120" y="3154680"/>
            <a:ext cx="342900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89120" y="315468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590288" y="3300984"/>
            <a:ext cx="3063240" cy="320040"/>
          </a:xfrm>
          <a:prstGeom prst="rect">
            <a:avLst/>
          </a:prstGeom>
          <a:noFill/>
        </p:spPr>
        <p:txBody>
          <a:bodyPr wrap="none">
            <a:spAutoFit/>
          </a:bodyPr>
          <a:lstStyle/>
          <a:p>
            <a:pPr>
              <a:defRPr sz="1400" b="1">
                <a:solidFill>
                  <a:srgbClr val="152238"/>
                </a:solidFill>
              </a:defRPr>
            </a:pPr>
            <a:r>
              <a:t>Tenure effect</a:t>
            </a:r>
          </a:p>
        </p:txBody>
      </p:sp>
      <p:sp>
        <p:nvSpPr>
          <p:cNvPr id="24" name="TextBox 23"/>
          <p:cNvSpPr txBox="1"/>
          <p:nvPr/>
        </p:nvSpPr>
        <p:spPr>
          <a:xfrm>
            <a:off x="4590288" y="3721608"/>
            <a:ext cx="3063240" cy="704088"/>
          </a:xfrm>
          <a:prstGeom prst="rect">
            <a:avLst/>
          </a:prstGeom>
          <a:noFill/>
        </p:spPr>
        <p:txBody>
          <a:bodyPr wrap="square">
            <a:spAutoFit/>
          </a:bodyPr>
          <a:lstStyle/>
          <a:p>
            <a:pPr>
              <a:defRPr sz="1100">
                <a:solidFill>
                  <a:srgbClr val="232A32"/>
                </a:solidFill>
              </a:defRPr>
            </a:pPr>
            <a:r>
              <a:t>CSAT improves through the 61–90 tenure bucket, while the training group is the lowest in the displayed trend.</a:t>
            </a:r>
          </a:p>
        </p:txBody>
      </p:sp>
      <p:sp>
        <p:nvSpPr>
          <p:cNvPr id="25" name="Rounded Rectangle 24"/>
          <p:cNvSpPr/>
          <p:nvPr/>
        </p:nvSpPr>
        <p:spPr>
          <a:xfrm>
            <a:off x="8138160" y="3154680"/>
            <a:ext cx="342900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38160" y="3154680"/>
            <a:ext cx="73152" cy="141732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39328" y="3300984"/>
            <a:ext cx="3063240" cy="320040"/>
          </a:xfrm>
          <a:prstGeom prst="rect">
            <a:avLst/>
          </a:prstGeom>
          <a:noFill/>
        </p:spPr>
        <p:txBody>
          <a:bodyPr wrap="none">
            <a:spAutoFit/>
          </a:bodyPr>
          <a:lstStyle/>
          <a:p>
            <a:pPr>
              <a:defRPr sz="1400" b="1">
                <a:solidFill>
                  <a:srgbClr val="152238"/>
                </a:solidFill>
              </a:defRPr>
            </a:pPr>
            <a:r>
              <a:t>Data quality</a:t>
            </a:r>
          </a:p>
        </p:txBody>
      </p:sp>
      <p:sp>
        <p:nvSpPr>
          <p:cNvPr id="28" name="TextBox 27"/>
          <p:cNvSpPr txBox="1"/>
          <p:nvPr/>
        </p:nvSpPr>
        <p:spPr>
          <a:xfrm>
            <a:off x="8339328" y="3721608"/>
            <a:ext cx="3063240" cy="704088"/>
          </a:xfrm>
          <a:prstGeom prst="rect">
            <a:avLst/>
          </a:prstGeom>
          <a:noFill/>
        </p:spPr>
        <p:txBody>
          <a:bodyPr wrap="square">
            <a:spAutoFit/>
          </a:bodyPr>
          <a:lstStyle/>
          <a:p>
            <a:pPr>
              <a:defRPr sz="1100">
                <a:solidFill>
                  <a:srgbClr val="232A32"/>
                </a:solidFill>
              </a:defRPr>
            </a:pPr>
            <a:r>
              <a:t>The dataset has 85,907 rows and 19 columns with no duplicate rows, but several fields contain substantial missingness.</a:t>
            </a:r>
          </a:p>
        </p:txBody>
      </p:sp>
      <p:sp>
        <p:nvSpPr>
          <p:cNvPr id="29" name="TextBox 28"/>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Dataset &amp; Data Quality</a:t>
            </a:r>
          </a:p>
        </p:txBody>
      </p:sp>
      <p:sp>
        <p:nvSpPr>
          <p:cNvPr id="4" name="TextBox 3"/>
          <p:cNvSpPr txBox="1"/>
          <p:nvPr/>
        </p:nvSpPr>
        <p:spPr>
          <a:xfrm>
            <a:off x="621792" y="914400"/>
            <a:ext cx="10789920" cy="365760"/>
          </a:xfrm>
          <a:prstGeom prst="rect">
            <a:avLst/>
          </a:prstGeom>
          <a:noFill/>
        </p:spPr>
        <p:txBody>
          <a:bodyPr wrap="none">
            <a:spAutoFit/>
          </a:bodyPr>
          <a:lstStyle/>
          <a:p>
            <a:pPr>
              <a:defRPr sz="1100">
                <a:solidFill>
                  <a:srgbClr val="5D6978"/>
                </a:solidFill>
              </a:defRPr>
            </a:pPr>
            <a:r>
              <a:t>Structure observed in the notebook</a:t>
            </a:r>
          </a:p>
        </p:txBody>
      </p:sp>
      <p:sp>
        <p:nvSpPr>
          <p:cNvPr id="5" name="Rounded Rectangle 4"/>
          <p:cNvSpPr/>
          <p:nvPr/>
        </p:nvSpPr>
        <p:spPr>
          <a:xfrm>
            <a:off x="685800" y="1325880"/>
            <a:ext cx="2514600" cy="86868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325880"/>
            <a:ext cx="73152" cy="86868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472184"/>
            <a:ext cx="2148840" cy="320040"/>
          </a:xfrm>
          <a:prstGeom prst="rect">
            <a:avLst/>
          </a:prstGeom>
          <a:noFill/>
        </p:spPr>
        <p:txBody>
          <a:bodyPr wrap="none">
            <a:spAutoFit/>
          </a:bodyPr>
          <a:lstStyle/>
          <a:p>
            <a:pPr>
              <a:defRPr sz="1400" b="1">
                <a:solidFill>
                  <a:srgbClr val="152238"/>
                </a:solidFill>
              </a:defRPr>
            </a:pPr>
            <a:r>
              <a:t>Rows</a:t>
            </a:r>
          </a:p>
        </p:txBody>
      </p:sp>
      <p:sp>
        <p:nvSpPr>
          <p:cNvPr id="8" name="TextBox 7"/>
          <p:cNvSpPr txBox="1"/>
          <p:nvPr/>
        </p:nvSpPr>
        <p:spPr>
          <a:xfrm>
            <a:off x="886968" y="1892807"/>
            <a:ext cx="2148840" cy="155447"/>
          </a:xfrm>
          <a:prstGeom prst="rect">
            <a:avLst/>
          </a:prstGeom>
          <a:noFill/>
        </p:spPr>
        <p:txBody>
          <a:bodyPr wrap="square">
            <a:spAutoFit/>
          </a:bodyPr>
          <a:lstStyle/>
          <a:p>
            <a:pPr>
              <a:defRPr sz="1100">
                <a:solidFill>
                  <a:srgbClr val="232A32"/>
                </a:solidFill>
              </a:defRPr>
            </a:pPr>
            <a:r>
              <a:t>85,907</a:t>
            </a:r>
          </a:p>
        </p:txBody>
      </p:sp>
      <p:sp>
        <p:nvSpPr>
          <p:cNvPr id="9" name="Rounded Rectangle 8"/>
          <p:cNvSpPr/>
          <p:nvPr/>
        </p:nvSpPr>
        <p:spPr>
          <a:xfrm>
            <a:off x="3474720" y="1325880"/>
            <a:ext cx="2514600" cy="86868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74720" y="1325880"/>
            <a:ext cx="73152" cy="86868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75887" y="1472184"/>
            <a:ext cx="2148840" cy="320040"/>
          </a:xfrm>
          <a:prstGeom prst="rect">
            <a:avLst/>
          </a:prstGeom>
          <a:noFill/>
        </p:spPr>
        <p:txBody>
          <a:bodyPr wrap="none">
            <a:spAutoFit/>
          </a:bodyPr>
          <a:lstStyle/>
          <a:p>
            <a:pPr>
              <a:defRPr sz="1400" b="1">
                <a:solidFill>
                  <a:srgbClr val="152238"/>
                </a:solidFill>
              </a:defRPr>
            </a:pPr>
            <a:r>
              <a:t>Columns</a:t>
            </a:r>
          </a:p>
        </p:txBody>
      </p:sp>
      <p:sp>
        <p:nvSpPr>
          <p:cNvPr id="12" name="TextBox 11"/>
          <p:cNvSpPr txBox="1"/>
          <p:nvPr/>
        </p:nvSpPr>
        <p:spPr>
          <a:xfrm>
            <a:off x="3675887" y="1892807"/>
            <a:ext cx="2148840" cy="155447"/>
          </a:xfrm>
          <a:prstGeom prst="rect">
            <a:avLst/>
          </a:prstGeom>
          <a:noFill/>
        </p:spPr>
        <p:txBody>
          <a:bodyPr wrap="square">
            <a:spAutoFit/>
          </a:bodyPr>
          <a:lstStyle/>
          <a:p>
            <a:pPr>
              <a:defRPr sz="1100">
                <a:solidFill>
                  <a:srgbClr val="232A32"/>
                </a:solidFill>
              </a:defRPr>
            </a:pPr>
            <a:r>
              <a:t>19</a:t>
            </a:r>
          </a:p>
        </p:txBody>
      </p:sp>
      <p:sp>
        <p:nvSpPr>
          <p:cNvPr id="13" name="Rounded Rectangle 12"/>
          <p:cNvSpPr/>
          <p:nvPr/>
        </p:nvSpPr>
        <p:spPr>
          <a:xfrm>
            <a:off x="6263640" y="1325880"/>
            <a:ext cx="2514600" cy="86868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325880"/>
            <a:ext cx="73152" cy="86868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4807" y="1472184"/>
            <a:ext cx="2148840" cy="320040"/>
          </a:xfrm>
          <a:prstGeom prst="rect">
            <a:avLst/>
          </a:prstGeom>
          <a:noFill/>
        </p:spPr>
        <p:txBody>
          <a:bodyPr wrap="none">
            <a:spAutoFit/>
          </a:bodyPr>
          <a:lstStyle/>
          <a:p>
            <a:pPr>
              <a:defRPr sz="1400" b="1">
                <a:solidFill>
                  <a:srgbClr val="152238"/>
                </a:solidFill>
              </a:defRPr>
            </a:pPr>
            <a:r>
              <a:t>Duplicate rows</a:t>
            </a:r>
          </a:p>
        </p:txBody>
      </p:sp>
      <p:sp>
        <p:nvSpPr>
          <p:cNvPr id="16" name="TextBox 15"/>
          <p:cNvSpPr txBox="1"/>
          <p:nvPr/>
        </p:nvSpPr>
        <p:spPr>
          <a:xfrm>
            <a:off x="6464807" y="1892807"/>
            <a:ext cx="2148840" cy="155447"/>
          </a:xfrm>
          <a:prstGeom prst="rect">
            <a:avLst/>
          </a:prstGeom>
          <a:noFill/>
        </p:spPr>
        <p:txBody>
          <a:bodyPr wrap="square">
            <a:spAutoFit/>
          </a:bodyPr>
          <a:lstStyle/>
          <a:p>
            <a:pPr>
              <a:defRPr sz="1100">
                <a:solidFill>
                  <a:srgbClr val="232A32"/>
                </a:solidFill>
              </a:defRPr>
            </a:pPr>
            <a:r>
              <a:t>0</a:t>
            </a:r>
          </a:p>
        </p:txBody>
      </p:sp>
      <p:sp>
        <p:nvSpPr>
          <p:cNvPr id="17" name="Rounded Rectangle 16"/>
          <p:cNvSpPr/>
          <p:nvPr/>
        </p:nvSpPr>
        <p:spPr>
          <a:xfrm>
            <a:off x="9052559" y="1325880"/>
            <a:ext cx="2514600" cy="86868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052559" y="1325880"/>
            <a:ext cx="73152" cy="86868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53728" y="1472184"/>
            <a:ext cx="2148840" cy="320040"/>
          </a:xfrm>
          <a:prstGeom prst="rect">
            <a:avLst/>
          </a:prstGeom>
          <a:noFill/>
        </p:spPr>
        <p:txBody>
          <a:bodyPr wrap="none">
            <a:spAutoFit/>
          </a:bodyPr>
          <a:lstStyle/>
          <a:p>
            <a:pPr>
              <a:defRPr sz="1400" b="1">
                <a:solidFill>
                  <a:srgbClr val="152238"/>
                </a:solidFill>
              </a:defRPr>
            </a:pPr>
            <a:r>
              <a:t>Channels</a:t>
            </a:r>
          </a:p>
        </p:txBody>
      </p:sp>
      <p:sp>
        <p:nvSpPr>
          <p:cNvPr id="20" name="TextBox 19"/>
          <p:cNvSpPr txBox="1"/>
          <p:nvPr/>
        </p:nvSpPr>
        <p:spPr>
          <a:xfrm>
            <a:off x="9253728" y="1892807"/>
            <a:ext cx="2148840" cy="155447"/>
          </a:xfrm>
          <a:prstGeom prst="rect">
            <a:avLst/>
          </a:prstGeom>
          <a:noFill/>
        </p:spPr>
        <p:txBody>
          <a:bodyPr wrap="square">
            <a:spAutoFit/>
          </a:bodyPr>
          <a:lstStyle/>
          <a:p>
            <a:pPr>
              <a:defRPr sz="1100">
                <a:solidFill>
                  <a:srgbClr val="232A32"/>
                </a:solidFill>
              </a:defRPr>
            </a:pPr>
            <a:r>
              <a:t>3</a:t>
            </a:r>
          </a:p>
        </p:txBody>
      </p:sp>
      <p:sp>
        <p:nvSpPr>
          <p:cNvPr id="21" name="Rounded Rectangle 20"/>
          <p:cNvSpPr/>
          <p:nvPr/>
        </p:nvSpPr>
        <p:spPr>
          <a:xfrm>
            <a:off x="685800" y="2468880"/>
            <a:ext cx="2514600" cy="86868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85800" y="2468880"/>
            <a:ext cx="73152" cy="86868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6968" y="2615184"/>
            <a:ext cx="2148840" cy="320040"/>
          </a:xfrm>
          <a:prstGeom prst="rect">
            <a:avLst/>
          </a:prstGeom>
          <a:noFill/>
        </p:spPr>
        <p:txBody>
          <a:bodyPr wrap="none">
            <a:spAutoFit/>
          </a:bodyPr>
          <a:lstStyle/>
          <a:p>
            <a:pPr>
              <a:defRPr sz="1400" b="1">
                <a:solidFill>
                  <a:srgbClr val="152238"/>
                </a:solidFill>
              </a:defRPr>
            </a:pPr>
            <a:r>
              <a:t>Categories</a:t>
            </a:r>
          </a:p>
        </p:txBody>
      </p:sp>
      <p:sp>
        <p:nvSpPr>
          <p:cNvPr id="24" name="TextBox 23"/>
          <p:cNvSpPr txBox="1"/>
          <p:nvPr/>
        </p:nvSpPr>
        <p:spPr>
          <a:xfrm>
            <a:off x="886968" y="3035808"/>
            <a:ext cx="2148840" cy="155447"/>
          </a:xfrm>
          <a:prstGeom prst="rect">
            <a:avLst/>
          </a:prstGeom>
          <a:noFill/>
        </p:spPr>
        <p:txBody>
          <a:bodyPr wrap="square">
            <a:spAutoFit/>
          </a:bodyPr>
          <a:lstStyle/>
          <a:p>
            <a:pPr>
              <a:defRPr sz="1100">
                <a:solidFill>
                  <a:srgbClr val="232A32"/>
                </a:solidFill>
              </a:defRPr>
            </a:pPr>
            <a:r>
              <a:t>12</a:t>
            </a:r>
          </a:p>
        </p:txBody>
      </p:sp>
      <p:sp>
        <p:nvSpPr>
          <p:cNvPr id="25" name="Rounded Rectangle 24"/>
          <p:cNvSpPr/>
          <p:nvPr/>
        </p:nvSpPr>
        <p:spPr>
          <a:xfrm>
            <a:off x="3474720" y="2468880"/>
            <a:ext cx="2514600" cy="86868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474720" y="2468880"/>
            <a:ext cx="73152" cy="86868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75887" y="2615184"/>
            <a:ext cx="2148840" cy="320040"/>
          </a:xfrm>
          <a:prstGeom prst="rect">
            <a:avLst/>
          </a:prstGeom>
          <a:noFill/>
        </p:spPr>
        <p:txBody>
          <a:bodyPr wrap="none">
            <a:spAutoFit/>
          </a:bodyPr>
          <a:lstStyle/>
          <a:p>
            <a:pPr>
              <a:defRPr sz="1400" b="1">
                <a:solidFill>
                  <a:srgbClr val="152238"/>
                </a:solidFill>
              </a:defRPr>
            </a:pPr>
            <a:r>
              <a:t>Sub-categories</a:t>
            </a:r>
          </a:p>
        </p:txBody>
      </p:sp>
      <p:sp>
        <p:nvSpPr>
          <p:cNvPr id="28" name="TextBox 27"/>
          <p:cNvSpPr txBox="1"/>
          <p:nvPr/>
        </p:nvSpPr>
        <p:spPr>
          <a:xfrm>
            <a:off x="3675887" y="3035808"/>
            <a:ext cx="2148840" cy="155447"/>
          </a:xfrm>
          <a:prstGeom prst="rect">
            <a:avLst/>
          </a:prstGeom>
          <a:noFill/>
        </p:spPr>
        <p:txBody>
          <a:bodyPr wrap="square">
            <a:spAutoFit/>
          </a:bodyPr>
          <a:lstStyle/>
          <a:p>
            <a:pPr>
              <a:defRPr sz="1100">
                <a:solidFill>
                  <a:srgbClr val="232A32"/>
                </a:solidFill>
              </a:defRPr>
            </a:pPr>
            <a:r>
              <a:t>57</a:t>
            </a:r>
          </a:p>
        </p:txBody>
      </p:sp>
      <p:sp>
        <p:nvSpPr>
          <p:cNvPr id="29" name="Rounded Rectangle 28"/>
          <p:cNvSpPr/>
          <p:nvPr/>
        </p:nvSpPr>
        <p:spPr>
          <a:xfrm>
            <a:off x="6263640" y="2468880"/>
            <a:ext cx="2514600" cy="86868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263640" y="2468880"/>
            <a:ext cx="73152" cy="86868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64807" y="2615184"/>
            <a:ext cx="2148840" cy="320040"/>
          </a:xfrm>
          <a:prstGeom prst="rect">
            <a:avLst/>
          </a:prstGeom>
          <a:noFill/>
        </p:spPr>
        <p:txBody>
          <a:bodyPr wrap="none">
            <a:spAutoFit/>
          </a:bodyPr>
          <a:lstStyle/>
          <a:p>
            <a:pPr>
              <a:defRPr sz="1400" b="1">
                <a:solidFill>
                  <a:srgbClr val="152238"/>
                </a:solidFill>
              </a:defRPr>
            </a:pPr>
            <a:r>
              <a:t>Managers</a:t>
            </a:r>
          </a:p>
        </p:txBody>
      </p:sp>
      <p:sp>
        <p:nvSpPr>
          <p:cNvPr id="32" name="TextBox 31"/>
          <p:cNvSpPr txBox="1"/>
          <p:nvPr/>
        </p:nvSpPr>
        <p:spPr>
          <a:xfrm>
            <a:off x="6464807" y="3035808"/>
            <a:ext cx="2148840" cy="155447"/>
          </a:xfrm>
          <a:prstGeom prst="rect">
            <a:avLst/>
          </a:prstGeom>
          <a:noFill/>
        </p:spPr>
        <p:txBody>
          <a:bodyPr wrap="square">
            <a:spAutoFit/>
          </a:bodyPr>
          <a:lstStyle/>
          <a:p>
            <a:pPr>
              <a:defRPr sz="1100">
                <a:solidFill>
                  <a:srgbClr val="232A32"/>
                </a:solidFill>
              </a:defRPr>
            </a:pPr>
            <a:r>
              <a:t>6</a:t>
            </a:r>
          </a:p>
        </p:txBody>
      </p:sp>
      <p:sp>
        <p:nvSpPr>
          <p:cNvPr id="33" name="Rounded Rectangle 32"/>
          <p:cNvSpPr/>
          <p:nvPr/>
        </p:nvSpPr>
        <p:spPr>
          <a:xfrm>
            <a:off x="9052559" y="2468880"/>
            <a:ext cx="2514600" cy="86868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9052559" y="2468880"/>
            <a:ext cx="73152" cy="86868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53728" y="2615184"/>
            <a:ext cx="2148840" cy="320040"/>
          </a:xfrm>
          <a:prstGeom prst="rect">
            <a:avLst/>
          </a:prstGeom>
          <a:noFill/>
        </p:spPr>
        <p:txBody>
          <a:bodyPr wrap="none">
            <a:spAutoFit/>
          </a:bodyPr>
          <a:lstStyle/>
          <a:p>
            <a:pPr>
              <a:defRPr sz="1400" b="1">
                <a:solidFill>
                  <a:srgbClr val="152238"/>
                </a:solidFill>
              </a:defRPr>
            </a:pPr>
            <a:r>
              <a:t>Tenure buckets</a:t>
            </a:r>
          </a:p>
        </p:txBody>
      </p:sp>
      <p:sp>
        <p:nvSpPr>
          <p:cNvPr id="36" name="TextBox 35"/>
          <p:cNvSpPr txBox="1"/>
          <p:nvPr/>
        </p:nvSpPr>
        <p:spPr>
          <a:xfrm>
            <a:off x="9253728" y="3035808"/>
            <a:ext cx="2148840" cy="155447"/>
          </a:xfrm>
          <a:prstGeom prst="rect">
            <a:avLst/>
          </a:prstGeom>
          <a:noFill/>
        </p:spPr>
        <p:txBody>
          <a:bodyPr wrap="square">
            <a:spAutoFit/>
          </a:bodyPr>
          <a:lstStyle/>
          <a:p>
            <a:pPr>
              <a:defRPr sz="1100">
                <a:solidFill>
                  <a:srgbClr val="232A32"/>
                </a:solidFill>
              </a:defRPr>
            </a:pPr>
            <a:r>
              <a:t>5</a:t>
            </a:r>
          </a:p>
        </p:txBody>
      </p:sp>
      <p:sp>
        <p:nvSpPr>
          <p:cNvPr id="37" name="Rounded Rectangle 36"/>
          <p:cNvSpPr/>
          <p:nvPr/>
        </p:nvSpPr>
        <p:spPr>
          <a:xfrm>
            <a:off x="685800" y="3886200"/>
            <a:ext cx="5303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85800" y="388620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86968" y="4032504"/>
            <a:ext cx="4937759" cy="320040"/>
          </a:xfrm>
          <a:prstGeom prst="rect">
            <a:avLst/>
          </a:prstGeom>
          <a:noFill/>
        </p:spPr>
        <p:txBody>
          <a:bodyPr wrap="none">
            <a:spAutoFit/>
          </a:bodyPr>
          <a:lstStyle/>
          <a:p>
            <a:pPr>
              <a:defRPr sz="1400" b="1">
                <a:solidFill>
                  <a:srgbClr val="152238"/>
                </a:solidFill>
              </a:defRPr>
            </a:pPr>
            <a:r>
              <a:t>Missing-value hotspots</a:t>
            </a:r>
          </a:p>
        </p:txBody>
      </p:sp>
      <p:sp>
        <p:nvSpPr>
          <p:cNvPr id="40" name="TextBox 39"/>
          <p:cNvSpPr txBox="1"/>
          <p:nvPr/>
        </p:nvSpPr>
        <p:spPr>
          <a:xfrm>
            <a:off x="886968" y="4453128"/>
            <a:ext cx="4937759" cy="795527"/>
          </a:xfrm>
          <a:prstGeom prst="rect">
            <a:avLst/>
          </a:prstGeom>
          <a:noFill/>
        </p:spPr>
        <p:txBody>
          <a:bodyPr wrap="square">
            <a:spAutoFit/>
          </a:bodyPr>
          <a:lstStyle/>
          <a:p>
            <a:pPr>
              <a:defRPr sz="1100">
                <a:solidFill>
                  <a:srgbClr val="232A32"/>
                </a:solidFill>
              </a:defRPr>
            </a:pPr>
            <a:r>
              <a:t>Order_id: 18,232 missing</a:t>
            </a:r>
            <a:br/>
            <a:r>
              <a:t>order_date_time: 68,693 missing</a:t>
            </a:r>
            <a:br/>
            <a:r>
              <a:t>Product_category: 68,711 missing</a:t>
            </a:r>
          </a:p>
        </p:txBody>
      </p:sp>
      <p:sp>
        <p:nvSpPr>
          <p:cNvPr id="41" name="Rounded Rectangle 40"/>
          <p:cNvSpPr/>
          <p:nvPr/>
        </p:nvSpPr>
        <p:spPr>
          <a:xfrm>
            <a:off x="6217920" y="3886200"/>
            <a:ext cx="525780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6217920" y="3886200"/>
            <a:ext cx="73152" cy="150876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19088" y="4032504"/>
            <a:ext cx="4892040" cy="320040"/>
          </a:xfrm>
          <a:prstGeom prst="rect">
            <a:avLst/>
          </a:prstGeom>
          <a:noFill/>
        </p:spPr>
        <p:txBody>
          <a:bodyPr wrap="none">
            <a:spAutoFit/>
          </a:bodyPr>
          <a:lstStyle/>
          <a:p>
            <a:pPr>
              <a:defRPr sz="1400" b="1">
                <a:solidFill>
                  <a:srgbClr val="152238"/>
                </a:solidFill>
              </a:defRPr>
            </a:pPr>
            <a:r>
              <a:t>Pre-processing visible in notebook</a:t>
            </a:r>
          </a:p>
        </p:txBody>
      </p:sp>
      <p:sp>
        <p:nvSpPr>
          <p:cNvPr id="44" name="TextBox 43"/>
          <p:cNvSpPr txBox="1"/>
          <p:nvPr/>
        </p:nvSpPr>
        <p:spPr>
          <a:xfrm>
            <a:off x="6419088" y="4453128"/>
            <a:ext cx="4892040" cy="795527"/>
          </a:xfrm>
          <a:prstGeom prst="rect">
            <a:avLst/>
          </a:prstGeom>
          <a:noFill/>
        </p:spPr>
        <p:txBody>
          <a:bodyPr wrap="square">
            <a:spAutoFit/>
          </a:bodyPr>
          <a:lstStyle/>
          <a:p>
            <a:pPr>
              <a:defRPr sz="1100">
                <a:solidFill>
                  <a:srgbClr val="232A32"/>
                </a:solidFill>
              </a:defRPr>
            </a:pPr>
            <a:r>
              <a:t>Customer Remarks were filled with “No Remarks”; Item_price missing values were filled with the median; Customer_City and connected_handling_time were dropped; response_time was engineered.</a:t>
            </a:r>
          </a:p>
        </p:txBody>
      </p:sp>
      <p:sp>
        <p:nvSpPr>
          <p:cNvPr id="45" name="TextBox 44"/>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CSAT Score Distribution</a:t>
            </a:r>
          </a:p>
        </p:txBody>
      </p:sp>
      <p:pic>
        <p:nvPicPr>
          <p:cNvPr id="4" name="Picture 3" descr="analysis_chart_52.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count plot is appropriate for showing the frequency of each discrete CSAT rating.</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CSAT 5 is the dominant rating, followed by 4. Lower ratings are much less frequent, but the visible 1-score group is large enough to warrant attention.</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Protect the strong satisfaction base while investigating the drivers of low scores. Reducing the 1-score segment can improve overall service quality.</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Response/Time Difference by Agent Shift</a:t>
            </a:r>
          </a:p>
        </p:txBody>
      </p:sp>
      <p:pic>
        <p:nvPicPr>
          <p:cNvPr id="4" name="Picture 3" descr="analysis_chart_60.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box plot compares the distribution and spread of response/time differences across shifts.</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All shifts show extreme high-value outliers, indicating occasional very long delays or possible data-quality anomalies.</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Shift-level monitoring and validation of extreme delay records can help identify operational bottlenecks and improve response consistency.</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Item Price Distribution</a:t>
            </a:r>
          </a:p>
        </p:txBody>
      </p:sp>
      <p:pic>
        <p:nvPicPr>
          <p:cNvPr id="4" name="Picture 3" descr="analysis_chart_68.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histogram shows how item prices are distributed and whether the variable is concentrated or skewed.</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Item prices are heavily concentrated at lower values with a long right tail, showing a small number of much higher-priced observations.</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Segmenting service cases by order value may help prioritize high-value customers without ignoring the larger volume of lower-value interactions.</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Time Difference vs. Item Price</a:t>
            </a:r>
          </a:p>
        </p:txBody>
      </p:sp>
      <p:pic>
        <p:nvPicPr>
          <p:cNvPr id="4" name="Picture 3" descr="analysis_chart_76.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scatter plot tests whether service delay varies systematically with item price, with CSAT shown as an additional dimension.</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The points are widely dispersed across item prices, so there is no strong visual evidence that item price alone explains time difference.</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Operational response time should not be optimized only around order value; staffing, workflow and case complexity should also be considered.</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Customer Service Channel Mix</a:t>
            </a:r>
          </a:p>
        </p:txBody>
      </p:sp>
      <p:pic>
        <p:nvPicPr>
          <p:cNvPr id="4" name="Picture 3" descr="analysis_chart_84.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pie chart is useful for showing the share of interactions handled through each channel.</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Inbound represents about 79.3% of interactions, Outcall about 17.2%, and Email about 3.5%.</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Inbound is the primary service channel, so improvements to inbound handling can have the largest operational impact.</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Top Customer Interaction Channels</a:t>
            </a:r>
          </a:p>
        </p:txBody>
      </p:sp>
      <p:pic>
        <p:nvPicPr>
          <p:cNvPr id="4" name="Picture 3" descr="analysis_chart_92.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bar chart makes it easy to compare the volume handled by each channel.</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Inbound has by far the highest interaction volume, followed by Outcall and then Email.</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Resource allocation should reflect actual channel demand, especially the much larger inbound workload.</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Average CSAT by Agent Shift</a:t>
            </a:r>
          </a:p>
        </p:txBody>
      </p:sp>
      <p:pic>
        <p:nvPicPr>
          <p:cNvPr id="4" name="Picture 3" descr="analysis_chart_100.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bar chart compares average customer satisfaction across operational shifts.</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Average CSAT is relatively close across shifts, with the Split shift appearing lower and Night/Morning among the stronger groups.</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The relatively small gap suggests that broad shift-based changes should be targeted carefully; focus on the lower-performing shift rather than applying the same intervention everywhere.</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CSAT by Product Category</a:t>
            </a:r>
          </a:p>
        </p:txBody>
      </p:sp>
      <p:pic>
        <p:nvPicPr>
          <p:cNvPr id="4" name="Picture 3" descr="analysis_chart_108.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Box plots compare CSAT distributions across product categories and highlight medians, spread and outliers.</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Customer satisfaction differs across product categories, with some categories showing wider variation and more low-score observations.</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Category-specific issue handling and targeted process improvements can address inconsistent customer experiences.</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CSAT Distribution by Channel</a:t>
            </a:r>
          </a:p>
        </p:txBody>
      </p:sp>
      <p:pic>
        <p:nvPicPr>
          <p:cNvPr id="4" name="Picture 3" descr="analysis_chart_116.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box plot compares the distribution of CSAT scores for each support channel.</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Inbound and Email show high central CSAT levels, while Outcall has a lower central level and visible low-score observations.</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Channel-specific service standards and coaching can improve the weaker channel without disrupting stronger channels.</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Average CSAT by Agent Tenure</a:t>
            </a:r>
          </a:p>
        </p:txBody>
      </p:sp>
      <p:pic>
        <p:nvPicPr>
          <p:cNvPr id="4" name="Picture 3" descr="analysis_chart_124.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line chart shows how average CSAT changes across ordered tenure buckets.</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Average CSAT rises from early tenure to the 61–90 bucket, then falls for the 90+ bucket; the 'On Job Training' group is lowest.</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Structured onboarding and targeted coaching for new/training agents can help lift satisfaction, while experienced-agent practices can be reviewed for consistency.</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Average CSAT by Manager</a:t>
            </a:r>
          </a:p>
        </p:txBody>
      </p:sp>
      <p:pic>
        <p:nvPicPr>
          <p:cNvPr id="4" name="Picture 3" descr="analysis_chart_132.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heatmap provides a compact comparison of average CSAT across managers.</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Manager-level averages range roughly from 4.1 to 4.4, with Emily Chen highest in the displayed analysis and William Kim/Olivia Tan among the lower values.</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Manager-level benchmarking can identify practices worth sharing and teams that may benefit from additional coaching or process support.</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Number of Agents by Shift</a:t>
            </a:r>
          </a:p>
        </p:txBody>
      </p:sp>
      <p:pic>
        <p:nvPicPr>
          <p:cNvPr id="4" name="Picture 3" descr="analysis_chart_140.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count plot compares staffing volume across shifts.</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Morning has the largest agent count, followed by Evening. Afternoon, Split and Night have much smaller staffing levels.</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Staffing should be checked against the interaction-volume profile so that capacity is aligned with demand and peak periods.</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Time Difference vs. CSAT Score</a:t>
            </a:r>
          </a:p>
        </p:txBody>
      </p:sp>
      <p:pic>
        <p:nvPicPr>
          <p:cNvPr id="4" name="Picture 3" descr="analysis_chart_148.png"/>
          <p:cNvPicPr>
            <a:picLocks noChangeAspect="1"/>
          </p:cNvPicPr>
          <p:nvPr/>
        </p:nvPicPr>
        <p:blipFill>
          <a:blip r:embed="rId2"/>
          <a:stretch>
            <a:fillRect/>
          </a:stretch>
        </p:blipFill>
        <p:spPr>
          <a:xfrm>
            <a:off x="502920" y="1143000"/>
            <a:ext cx="6720840" cy="4983480"/>
          </a:xfrm>
          <a:prstGeom prst="rect">
            <a:avLst/>
          </a:prstGeom>
        </p:spPr>
      </p:pic>
      <p:sp>
        <p:nvSpPr>
          <p:cNvPr id="5" name="Rounded Rectangle 4"/>
          <p:cNvSpPr/>
          <p:nvPr/>
        </p:nvSpPr>
        <p:spPr>
          <a:xfrm>
            <a:off x="7452360" y="1234440"/>
            <a:ext cx="4160520" cy="141732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452360" y="1234440"/>
            <a:ext cx="73152" cy="141732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53528" y="1380744"/>
            <a:ext cx="3794759" cy="320040"/>
          </a:xfrm>
          <a:prstGeom prst="rect">
            <a:avLst/>
          </a:prstGeom>
          <a:noFill/>
        </p:spPr>
        <p:txBody>
          <a:bodyPr wrap="none">
            <a:spAutoFit/>
          </a:bodyPr>
          <a:lstStyle/>
          <a:p>
            <a:pPr>
              <a:defRPr sz="1400" b="1">
                <a:solidFill>
                  <a:srgbClr val="152238"/>
                </a:solidFill>
              </a:defRPr>
            </a:pPr>
            <a:r>
              <a:t>Why this chart?</a:t>
            </a:r>
          </a:p>
        </p:txBody>
      </p:sp>
      <p:sp>
        <p:nvSpPr>
          <p:cNvPr id="8" name="TextBox 7"/>
          <p:cNvSpPr txBox="1"/>
          <p:nvPr/>
        </p:nvSpPr>
        <p:spPr>
          <a:xfrm>
            <a:off x="7653528" y="1801368"/>
            <a:ext cx="3794759" cy="704088"/>
          </a:xfrm>
          <a:prstGeom prst="rect">
            <a:avLst/>
          </a:prstGeom>
          <a:noFill/>
        </p:spPr>
        <p:txBody>
          <a:bodyPr wrap="square">
            <a:spAutoFit/>
          </a:bodyPr>
          <a:lstStyle/>
          <a:p>
            <a:pPr>
              <a:defRPr sz="1100">
                <a:solidFill>
                  <a:srgbClr val="232A32"/>
                </a:solidFill>
              </a:defRPr>
            </a:pPr>
            <a:r>
              <a:t>A scatter plot with a trend line tests the relationship between service delay and customer satisfaction.</a:t>
            </a:r>
          </a:p>
        </p:txBody>
      </p:sp>
      <p:sp>
        <p:nvSpPr>
          <p:cNvPr id="9" name="Rounded Rectangle 8"/>
          <p:cNvSpPr/>
          <p:nvPr/>
        </p:nvSpPr>
        <p:spPr>
          <a:xfrm>
            <a:off x="7452360" y="2880360"/>
            <a:ext cx="416052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452360" y="2880360"/>
            <a:ext cx="73152" cy="150876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53528" y="3026664"/>
            <a:ext cx="3794759" cy="320040"/>
          </a:xfrm>
          <a:prstGeom prst="rect">
            <a:avLst/>
          </a:prstGeom>
          <a:noFill/>
        </p:spPr>
        <p:txBody>
          <a:bodyPr wrap="none">
            <a:spAutoFit/>
          </a:bodyPr>
          <a:lstStyle/>
          <a:p>
            <a:pPr>
              <a:defRPr sz="1400" b="1">
                <a:solidFill>
                  <a:srgbClr val="152238"/>
                </a:solidFill>
              </a:defRPr>
            </a:pPr>
            <a:r>
              <a:t>Key insight</a:t>
            </a:r>
          </a:p>
        </p:txBody>
      </p:sp>
      <p:sp>
        <p:nvSpPr>
          <p:cNvPr id="12" name="TextBox 11"/>
          <p:cNvSpPr txBox="1"/>
          <p:nvPr/>
        </p:nvSpPr>
        <p:spPr>
          <a:xfrm>
            <a:off x="7653528" y="3447288"/>
            <a:ext cx="3794759" cy="795527"/>
          </a:xfrm>
          <a:prstGeom prst="rect">
            <a:avLst/>
          </a:prstGeom>
          <a:noFill/>
        </p:spPr>
        <p:txBody>
          <a:bodyPr wrap="square">
            <a:spAutoFit/>
          </a:bodyPr>
          <a:lstStyle/>
          <a:p>
            <a:pPr>
              <a:defRPr sz="1100">
                <a:solidFill>
                  <a:srgbClr val="232A32"/>
                </a:solidFill>
              </a:defRPr>
            </a:pPr>
            <a:r>
              <a:t>The fitted trend slopes downward, indicating that longer time differences are associated with lower CSAT. The notebook's Spearman test also reports rho = -0.1776 with p &lt; 0.001.</a:t>
            </a:r>
          </a:p>
        </p:txBody>
      </p:sp>
      <p:sp>
        <p:nvSpPr>
          <p:cNvPr id="13" name="Rounded Rectangle 12"/>
          <p:cNvSpPr/>
          <p:nvPr/>
        </p:nvSpPr>
        <p:spPr>
          <a:xfrm>
            <a:off x="7452360" y="4617720"/>
            <a:ext cx="4160520" cy="114300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52360" y="4617720"/>
            <a:ext cx="73152" cy="114300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53528" y="4764024"/>
            <a:ext cx="3794759" cy="320040"/>
          </a:xfrm>
          <a:prstGeom prst="rect">
            <a:avLst/>
          </a:prstGeom>
          <a:noFill/>
        </p:spPr>
        <p:txBody>
          <a:bodyPr wrap="none">
            <a:spAutoFit/>
          </a:bodyPr>
          <a:lstStyle/>
          <a:p>
            <a:pPr>
              <a:defRPr sz="1400" b="1">
                <a:solidFill>
                  <a:srgbClr val="152238"/>
                </a:solidFill>
              </a:defRPr>
            </a:pPr>
            <a:r>
              <a:t>Business impact</a:t>
            </a:r>
          </a:p>
        </p:txBody>
      </p:sp>
      <p:sp>
        <p:nvSpPr>
          <p:cNvPr id="16" name="TextBox 15"/>
          <p:cNvSpPr txBox="1"/>
          <p:nvPr/>
        </p:nvSpPr>
        <p:spPr>
          <a:xfrm>
            <a:off x="7653528" y="5184648"/>
            <a:ext cx="3794759" cy="429768"/>
          </a:xfrm>
          <a:prstGeom prst="rect">
            <a:avLst/>
          </a:prstGeom>
          <a:noFill/>
        </p:spPr>
        <p:txBody>
          <a:bodyPr wrap="square">
            <a:spAutoFit/>
          </a:bodyPr>
          <a:lstStyle/>
          <a:p>
            <a:pPr>
              <a:defRPr sz="1100">
                <a:solidFill>
                  <a:srgbClr val="232A32"/>
                </a:solidFill>
              </a:defRPr>
            </a:pPr>
            <a:r>
              <a:t>Reducing avoidable response delays is a clear improvement opportunity because faster resolution is associated with better customer satisfaction.</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Hypothesis Testing</a:t>
            </a:r>
          </a:p>
        </p:txBody>
      </p:sp>
      <p:sp>
        <p:nvSpPr>
          <p:cNvPr id="4" name="TextBox 3"/>
          <p:cNvSpPr txBox="1"/>
          <p:nvPr/>
        </p:nvSpPr>
        <p:spPr>
          <a:xfrm>
            <a:off x="621792" y="914400"/>
            <a:ext cx="10789920" cy="365760"/>
          </a:xfrm>
          <a:prstGeom prst="rect">
            <a:avLst/>
          </a:prstGeom>
          <a:noFill/>
        </p:spPr>
        <p:txBody>
          <a:bodyPr wrap="none">
            <a:spAutoFit/>
          </a:bodyPr>
          <a:lstStyle/>
          <a:p>
            <a:pPr>
              <a:defRPr sz="1100">
                <a:solidFill>
                  <a:srgbClr val="5D6978"/>
                </a:solidFill>
              </a:defRPr>
            </a:pPr>
            <a:r>
              <a:t>Statistical checks included in the notebook</a:t>
            </a:r>
          </a:p>
        </p:txBody>
      </p:sp>
      <p:sp>
        <p:nvSpPr>
          <p:cNvPr id="5" name="Rounded Rectangle 4"/>
          <p:cNvSpPr/>
          <p:nvPr/>
        </p:nvSpPr>
        <p:spPr>
          <a:xfrm>
            <a:off x="731520" y="1280160"/>
            <a:ext cx="10744200" cy="12344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280160"/>
            <a:ext cx="73152" cy="123444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426463"/>
            <a:ext cx="10378440" cy="320040"/>
          </a:xfrm>
          <a:prstGeom prst="rect">
            <a:avLst/>
          </a:prstGeom>
          <a:noFill/>
        </p:spPr>
        <p:txBody>
          <a:bodyPr wrap="none">
            <a:spAutoFit/>
          </a:bodyPr>
          <a:lstStyle/>
          <a:p>
            <a:pPr>
              <a:defRPr sz="1400" b="1">
                <a:solidFill>
                  <a:srgbClr val="152238"/>
                </a:solidFill>
              </a:defRPr>
            </a:pPr>
            <a:r>
              <a:t>Time difference ↔ CSAT</a:t>
            </a:r>
          </a:p>
        </p:txBody>
      </p:sp>
      <p:sp>
        <p:nvSpPr>
          <p:cNvPr id="8" name="TextBox 7"/>
          <p:cNvSpPr txBox="1"/>
          <p:nvPr/>
        </p:nvSpPr>
        <p:spPr>
          <a:xfrm>
            <a:off x="932688" y="1847088"/>
            <a:ext cx="10378440" cy="521208"/>
          </a:xfrm>
          <a:prstGeom prst="rect">
            <a:avLst/>
          </a:prstGeom>
          <a:noFill/>
        </p:spPr>
        <p:txBody>
          <a:bodyPr wrap="square">
            <a:spAutoFit/>
          </a:bodyPr>
          <a:lstStyle/>
          <a:p>
            <a:pPr>
              <a:defRPr sz="1100">
                <a:solidFill>
                  <a:srgbClr val="232A32"/>
                </a:solidFill>
              </a:defRPr>
            </a:pPr>
            <a:r>
              <a:t>Spearman rho = -0.1776; p = 0.0 in notebook output</a:t>
            </a:r>
            <a:br/>
            <a:r>
              <a:t>Significant negative relationship.</a:t>
            </a:r>
          </a:p>
        </p:txBody>
      </p:sp>
      <p:sp>
        <p:nvSpPr>
          <p:cNvPr id="9" name="Rounded Rectangle 8"/>
          <p:cNvSpPr/>
          <p:nvPr/>
        </p:nvSpPr>
        <p:spPr>
          <a:xfrm>
            <a:off x="731520" y="2834639"/>
            <a:ext cx="10744200" cy="12344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2834639"/>
            <a:ext cx="73152" cy="123444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2980944"/>
            <a:ext cx="10378440" cy="320040"/>
          </a:xfrm>
          <a:prstGeom prst="rect">
            <a:avLst/>
          </a:prstGeom>
          <a:noFill/>
        </p:spPr>
        <p:txBody>
          <a:bodyPr wrap="none">
            <a:spAutoFit/>
          </a:bodyPr>
          <a:lstStyle/>
          <a:p>
            <a:pPr>
              <a:defRPr sz="1400" b="1">
                <a:solidFill>
                  <a:srgbClr val="152238"/>
                </a:solidFill>
              </a:defRPr>
            </a:pPr>
            <a:r>
              <a:t>Agent shift ↔ CSAT</a:t>
            </a:r>
          </a:p>
        </p:txBody>
      </p:sp>
      <p:sp>
        <p:nvSpPr>
          <p:cNvPr id="12" name="TextBox 11"/>
          <p:cNvSpPr txBox="1"/>
          <p:nvPr/>
        </p:nvSpPr>
        <p:spPr>
          <a:xfrm>
            <a:off x="932688" y="3401568"/>
            <a:ext cx="10378440" cy="521208"/>
          </a:xfrm>
          <a:prstGeom prst="rect">
            <a:avLst/>
          </a:prstGeom>
          <a:noFill/>
        </p:spPr>
        <p:txBody>
          <a:bodyPr wrap="square">
            <a:spAutoFit/>
          </a:bodyPr>
          <a:lstStyle/>
          <a:p>
            <a:pPr>
              <a:defRPr sz="1100">
                <a:solidFill>
                  <a:srgbClr val="232A32"/>
                </a:solidFill>
              </a:defRPr>
            </a:pPr>
            <a:r>
              <a:t>Kruskal–Wallis H = 151.58; p = 9.34×10⁻³²</a:t>
            </a:r>
            <a:br/>
            <a:r>
              <a:t>Significant difference among shifts.</a:t>
            </a:r>
          </a:p>
        </p:txBody>
      </p:sp>
      <p:sp>
        <p:nvSpPr>
          <p:cNvPr id="13" name="Rounded Rectangle 12"/>
          <p:cNvSpPr/>
          <p:nvPr/>
        </p:nvSpPr>
        <p:spPr>
          <a:xfrm>
            <a:off x="731520" y="4389120"/>
            <a:ext cx="10744200" cy="12344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31520" y="4389120"/>
            <a:ext cx="73152" cy="123444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4535424"/>
            <a:ext cx="10378440" cy="320040"/>
          </a:xfrm>
          <a:prstGeom prst="rect">
            <a:avLst/>
          </a:prstGeom>
          <a:noFill/>
        </p:spPr>
        <p:txBody>
          <a:bodyPr wrap="none">
            <a:spAutoFit/>
          </a:bodyPr>
          <a:lstStyle/>
          <a:p>
            <a:pPr>
              <a:defRPr sz="1400" b="1">
                <a:solidFill>
                  <a:srgbClr val="152238"/>
                </a:solidFill>
              </a:defRPr>
            </a:pPr>
            <a:r>
              <a:t>Item price ↔ CSAT</a:t>
            </a:r>
          </a:p>
        </p:txBody>
      </p:sp>
      <p:sp>
        <p:nvSpPr>
          <p:cNvPr id="16" name="TextBox 15"/>
          <p:cNvSpPr txBox="1"/>
          <p:nvPr/>
        </p:nvSpPr>
        <p:spPr>
          <a:xfrm>
            <a:off x="932688" y="4956048"/>
            <a:ext cx="10378440" cy="521208"/>
          </a:xfrm>
          <a:prstGeom prst="rect">
            <a:avLst/>
          </a:prstGeom>
          <a:noFill/>
        </p:spPr>
        <p:txBody>
          <a:bodyPr wrap="square">
            <a:spAutoFit/>
          </a:bodyPr>
          <a:lstStyle/>
          <a:p>
            <a:pPr>
              <a:defRPr sz="1100">
                <a:solidFill>
                  <a:srgbClr val="232A32"/>
                </a:solidFill>
              </a:defRPr>
            </a:pPr>
            <a:r>
              <a:t>Spearman rho = -0.03395; p = 2.46×10⁻²³</a:t>
            </a:r>
            <a:br/>
            <a:r>
              <a:t>Statistically significant but very weak negative association.</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Business Recommendations</a:t>
            </a:r>
          </a:p>
        </p:txBody>
      </p:sp>
      <p:sp>
        <p:nvSpPr>
          <p:cNvPr id="4" name="TextBox 3"/>
          <p:cNvSpPr txBox="1"/>
          <p:nvPr/>
        </p:nvSpPr>
        <p:spPr>
          <a:xfrm>
            <a:off x="621792" y="914400"/>
            <a:ext cx="10789920" cy="365760"/>
          </a:xfrm>
          <a:prstGeom prst="rect">
            <a:avLst/>
          </a:prstGeom>
          <a:noFill/>
        </p:spPr>
        <p:txBody>
          <a:bodyPr wrap="none">
            <a:spAutoFit/>
          </a:bodyPr>
          <a:lstStyle/>
          <a:p>
            <a:pPr>
              <a:defRPr sz="1100">
                <a:solidFill>
                  <a:srgbClr val="5D6978"/>
                </a:solidFill>
              </a:defRPr>
            </a:pPr>
            <a:r>
              <a:t>Actions directly supported by the observed patterns</a:t>
            </a:r>
          </a:p>
        </p:txBody>
      </p:sp>
      <p:sp>
        <p:nvSpPr>
          <p:cNvPr id="5" name="TextBox 4"/>
          <p:cNvSpPr txBox="1"/>
          <p:nvPr/>
        </p:nvSpPr>
        <p:spPr>
          <a:xfrm>
            <a:off x="914400" y="1325880"/>
            <a:ext cx="10149840" cy="4480560"/>
          </a:xfrm>
          <a:prstGeom prst="rect">
            <a:avLst/>
          </a:prstGeom>
          <a:noFill/>
        </p:spPr>
        <p:txBody>
          <a:bodyPr wrap="square">
            <a:spAutoFit/>
          </a:bodyPr>
          <a:lstStyle/>
          <a:p>
            <a:pPr>
              <a:spcAft>
                <a:spcPts val="800"/>
              </a:spcAft>
              <a:defRPr sz="1700">
                <a:solidFill>
                  <a:srgbClr val="232A32"/>
                </a:solidFill>
              </a:defRPr>
            </a:pPr>
            <a:r>
              <a:t>• Prioritize response-time reduction: the notebook shows a significant negative relationship between delay and CSAT.</a:t>
            </a:r>
          </a:p>
          <a:p>
            <a:pPr>
              <a:spcAft>
                <a:spcPts val="800"/>
              </a:spcAft>
              <a:defRPr sz="1700">
                <a:solidFill>
                  <a:srgbClr val="232A32"/>
                </a:solidFill>
              </a:defRPr>
            </a:pPr>
            <a:r>
              <a:t>• Strengthen inbound support operations because inbound represents the overwhelming majority of interactions.</a:t>
            </a:r>
          </a:p>
          <a:p>
            <a:pPr>
              <a:spcAft>
                <a:spcPts val="800"/>
              </a:spcAft>
              <a:defRPr sz="1700">
                <a:solidFill>
                  <a:srgbClr val="232A32"/>
                </a:solidFill>
              </a:defRPr>
            </a:pPr>
            <a:r>
              <a:t>• Review low-CSAT cases by channel, product category, shift and manager rather than relying only on overall averages.</a:t>
            </a:r>
          </a:p>
          <a:p>
            <a:pPr>
              <a:spcAft>
                <a:spcPts val="800"/>
              </a:spcAft>
              <a:defRPr sz="1700">
                <a:solidFill>
                  <a:srgbClr val="232A32"/>
                </a:solidFill>
              </a:defRPr>
            </a:pPr>
            <a:r>
              <a:t>• Use structured onboarding and coaching for agents in training / early tenure, while sharing practices from stronger tenure groups.</a:t>
            </a:r>
          </a:p>
          <a:p>
            <a:pPr>
              <a:spcAft>
                <a:spcPts val="800"/>
              </a:spcAft>
              <a:defRPr sz="1700">
                <a:solidFill>
                  <a:srgbClr val="232A32"/>
                </a:solidFill>
              </a:defRPr>
            </a:pPr>
            <a:r>
              <a:t>• Benchmark manager-level performance to identify teams with repeatable service practices and teams needing support.</a:t>
            </a:r>
          </a:p>
          <a:p>
            <a:pPr>
              <a:spcAft>
                <a:spcPts val="800"/>
              </a:spcAft>
              <a:defRPr sz="1700">
                <a:solidFill>
                  <a:srgbClr val="232A32"/>
                </a:solidFill>
              </a:defRPr>
            </a:pPr>
            <a:r>
              <a:t>• Validate extreme time-difference records before using them for operational KPIs or automated decisions.</a:t>
            </a:r>
          </a:p>
        </p:txBody>
      </p:sp>
      <p:sp>
        <p:nvSpPr>
          <p:cNvPr id="6" name="TextBox 5"/>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320040"/>
            <a:ext cx="10972800" cy="594360"/>
          </a:xfrm>
          <a:prstGeom prst="rect">
            <a:avLst/>
          </a:prstGeom>
          <a:noFill/>
        </p:spPr>
        <p:txBody>
          <a:bodyPr wrap="none">
            <a:spAutoFit/>
          </a:bodyPr>
          <a:lstStyle/>
          <a:p>
            <a:pPr>
              <a:defRPr sz="2600" b="1">
                <a:solidFill>
                  <a:srgbClr val="152238"/>
                </a:solidFill>
              </a:defRPr>
            </a:pPr>
            <a:r>
              <a:t>Submission Note</a:t>
            </a:r>
          </a:p>
        </p:txBody>
      </p:sp>
      <p:sp>
        <p:nvSpPr>
          <p:cNvPr id="4" name="TextBox 3"/>
          <p:cNvSpPr txBox="1"/>
          <p:nvPr/>
        </p:nvSpPr>
        <p:spPr>
          <a:xfrm>
            <a:off x="621792" y="914400"/>
            <a:ext cx="10789920" cy="365760"/>
          </a:xfrm>
          <a:prstGeom prst="rect">
            <a:avLst/>
          </a:prstGeom>
          <a:noFill/>
        </p:spPr>
        <p:txBody>
          <a:bodyPr wrap="none">
            <a:spAutoFit/>
          </a:bodyPr>
          <a:lstStyle/>
          <a:p>
            <a:pPr>
              <a:defRPr sz="1100">
                <a:solidFill>
                  <a:srgbClr val="5D6978"/>
                </a:solidFill>
              </a:defRPr>
            </a:pPr>
            <a:r>
              <a:t>Important scope point from the supplied notebook</a:t>
            </a:r>
          </a:p>
        </p:txBody>
      </p:sp>
      <p:sp>
        <p:nvSpPr>
          <p:cNvPr id="5" name="Rounded Rectangle 4"/>
          <p:cNvSpPr/>
          <p:nvPr/>
        </p:nvSpPr>
        <p:spPr>
          <a:xfrm>
            <a:off x="822960" y="1417320"/>
            <a:ext cx="5074920" cy="19202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417320"/>
            <a:ext cx="73152" cy="192024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24128" y="1563624"/>
            <a:ext cx="4709159" cy="320040"/>
          </a:xfrm>
          <a:prstGeom prst="rect">
            <a:avLst/>
          </a:prstGeom>
          <a:noFill/>
        </p:spPr>
        <p:txBody>
          <a:bodyPr wrap="none">
            <a:spAutoFit/>
          </a:bodyPr>
          <a:lstStyle/>
          <a:p>
            <a:pPr>
              <a:defRPr sz="1400" b="1">
                <a:solidFill>
                  <a:srgbClr val="152238"/>
                </a:solidFill>
              </a:defRPr>
            </a:pPr>
            <a:r>
              <a:t>EDA is populated</a:t>
            </a:r>
          </a:p>
        </p:txBody>
      </p:sp>
      <p:sp>
        <p:nvSpPr>
          <p:cNvPr id="8" name="TextBox 7"/>
          <p:cNvSpPr txBox="1"/>
          <p:nvPr/>
        </p:nvSpPr>
        <p:spPr>
          <a:xfrm>
            <a:off x="1024128" y="1984248"/>
            <a:ext cx="4709159" cy="1207008"/>
          </a:xfrm>
          <a:prstGeom prst="rect">
            <a:avLst/>
          </a:prstGeom>
          <a:noFill/>
        </p:spPr>
        <p:txBody>
          <a:bodyPr wrap="square">
            <a:spAutoFit/>
          </a:bodyPr>
          <a:lstStyle/>
          <a:p>
            <a:pPr>
              <a:defRPr sz="1100">
                <a:solidFill>
                  <a:srgbClr val="232A32"/>
                </a:solidFill>
              </a:defRPr>
            </a:pPr>
            <a:r>
              <a:t>The supplied notebook contains the dataset exploration, data preparation, 13 required visual analyses, and three hypothesis tests used in this deck.</a:t>
            </a:r>
          </a:p>
        </p:txBody>
      </p:sp>
      <p:sp>
        <p:nvSpPr>
          <p:cNvPr id="9" name="Rounded Rectangle 8"/>
          <p:cNvSpPr/>
          <p:nvPr/>
        </p:nvSpPr>
        <p:spPr>
          <a:xfrm>
            <a:off x="6263640" y="1417320"/>
            <a:ext cx="5074920" cy="192024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417320"/>
            <a:ext cx="73152" cy="1920240"/>
          </a:xfrm>
          <a:prstGeom prst="rect">
            <a:avLst/>
          </a:prstGeom>
          <a:solidFill>
            <a:srgbClr val="E0AB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4807" y="1563624"/>
            <a:ext cx="4709159" cy="320040"/>
          </a:xfrm>
          <a:prstGeom prst="rect">
            <a:avLst/>
          </a:prstGeom>
          <a:noFill/>
        </p:spPr>
        <p:txBody>
          <a:bodyPr wrap="none">
            <a:spAutoFit/>
          </a:bodyPr>
          <a:lstStyle/>
          <a:p>
            <a:pPr>
              <a:defRPr sz="1400" b="1">
                <a:solidFill>
                  <a:srgbClr val="152238"/>
                </a:solidFill>
              </a:defRPr>
            </a:pPr>
            <a:r>
              <a:t>ML section is still templated</a:t>
            </a:r>
          </a:p>
        </p:txBody>
      </p:sp>
      <p:sp>
        <p:nvSpPr>
          <p:cNvPr id="12" name="TextBox 11"/>
          <p:cNvSpPr txBox="1"/>
          <p:nvPr/>
        </p:nvSpPr>
        <p:spPr>
          <a:xfrm>
            <a:off x="6464807" y="1984248"/>
            <a:ext cx="4709159" cy="1207008"/>
          </a:xfrm>
          <a:prstGeom prst="rect">
            <a:avLst/>
          </a:prstGeom>
          <a:noFill/>
        </p:spPr>
        <p:txBody>
          <a:bodyPr wrap="square">
            <a:spAutoFit/>
          </a:bodyPr>
          <a:lstStyle/>
          <a:p>
            <a:pPr>
              <a:defRPr sz="1100">
                <a:solidFill>
                  <a:srgbClr val="232A32"/>
                </a:solidFill>
              </a:defRPr>
            </a:pPr>
            <a:r>
              <a:t>The Model 1/2/3 sections in the supplied notebook contain placeholder implementation/evaluation cells rather than completed model results. No ML accuracy or final-model claim has been invented here.</a:t>
            </a:r>
          </a:p>
        </p:txBody>
      </p:sp>
      <p:sp>
        <p:nvSpPr>
          <p:cNvPr id="13" name="Rounded Rectangle 12"/>
          <p:cNvSpPr/>
          <p:nvPr/>
        </p:nvSpPr>
        <p:spPr>
          <a:xfrm>
            <a:off x="822960" y="3703320"/>
            <a:ext cx="10515600" cy="1508760"/>
          </a:xfrm>
          <a:prstGeom prst="roundRect">
            <a:avLst/>
          </a:prstGeom>
          <a:solidFill>
            <a:srgbClr val="FFFFFF"/>
          </a:solidFill>
          <a:ln>
            <a:solidFill>
              <a:srgbClr val="E1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 y="3703320"/>
            <a:ext cx="73152" cy="1508760"/>
          </a:xfrm>
          <a:prstGeom prst="rect">
            <a:avLst/>
          </a:prstGeom>
          <a:solidFill>
            <a:srgbClr val="1A8B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24128" y="3849624"/>
            <a:ext cx="10149840" cy="320040"/>
          </a:xfrm>
          <a:prstGeom prst="rect">
            <a:avLst/>
          </a:prstGeom>
          <a:noFill/>
        </p:spPr>
        <p:txBody>
          <a:bodyPr wrap="none">
            <a:spAutoFit/>
          </a:bodyPr>
          <a:lstStyle/>
          <a:p>
            <a:pPr>
              <a:defRPr sz="1400" b="1">
                <a:solidFill>
                  <a:srgbClr val="152238"/>
                </a:solidFill>
              </a:defRPr>
            </a:pPr>
            <a:r>
              <a:t>Best practice</a:t>
            </a:r>
          </a:p>
        </p:txBody>
      </p:sp>
      <p:sp>
        <p:nvSpPr>
          <p:cNvPr id="16" name="TextBox 15"/>
          <p:cNvSpPr txBox="1"/>
          <p:nvPr/>
        </p:nvSpPr>
        <p:spPr>
          <a:xfrm>
            <a:off x="1024128" y="4270248"/>
            <a:ext cx="10149840" cy="795527"/>
          </a:xfrm>
          <a:prstGeom prst="rect">
            <a:avLst/>
          </a:prstGeom>
          <a:noFill/>
        </p:spPr>
        <p:txBody>
          <a:bodyPr wrap="square">
            <a:spAutoFit/>
          </a:bodyPr>
          <a:lstStyle/>
          <a:p>
            <a:pPr>
              <a:defRPr sz="1100">
                <a:solidFill>
                  <a:srgbClr val="232A32"/>
                </a:solidFill>
              </a:defRPr>
            </a:pPr>
            <a:r>
              <a:t>Before final submission, ensure the notebook's ML section is either completed or intentionally marked as not applicable, depending on your assignment requirement. This deck intentionally stays faithful to the provided source.</a:t>
            </a:r>
          </a:p>
        </p:txBody>
      </p:sp>
      <p:sp>
        <p:nvSpPr>
          <p:cNvPr id="17" name="TextBox 16"/>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5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914400"/>
            <a:ext cx="10424160" cy="640080"/>
          </a:xfrm>
          <a:prstGeom prst="rect">
            <a:avLst/>
          </a:prstGeom>
          <a:noFill/>
        </p:spPr>
        <p:txBody>
          <a:bodyPr wrap="none">
            <a:spAutoFit/>
          </a:bodyPr>
          <a:lstStyle/>
          <a:p>
            <a:pPr>
              <a:defRPr sz="3000" b="1">
                <a:solidFill>
                  <a:srgbClr val="FFFFFF"/>
                </a:solidFill>
              </a:defRPr>
            </a:pPr>
            <a:r>
              <a:t>Conclusion</a:t>
            </a:r>
          </a:p>
        </p:txBody>
      </p:sp>
      <p:sp>
        <p:nvSpPr>
          <p:cNvPr id="4" name="TextBox 3"/>
          <p:cNvSpPr txBox="1"/>
          <p:nvPr/>
        </p:nvSpPr>
        <p:spPr>
          <a:xfrm>
            <a:off x="868680" y="1828800"/>
            <a:ext cx="10058400" cy="3017520"/>
          </a:xfrm>
          <a:prstGeom prst="rect">
            <a:avLst/>
          </a:prstGeom>
          <a:noFill/>
        </p:spPr>
        <p:txBody>
          <a:bodyPr wrap="square">
            <a:spAutoFit/>
          </a:bodyPr>
          <a:lstStyle/>
          <a:p>
            <a:pPr>
              <a:spcAft>
                <a:spcPts val="1400"/>
              </a:spcAft>
              <a:defRPr sz="2000">
                <a:solidFill>
                  <a:srgbClr val="FFFFFF"/>
                </a:solidFill>
              </a:defRPr>
            </a:pPr>
            <a:r>
              <a:t>The analysis shows a generally strong customer-satisfaction profile, but the business still has clear opportunities to reduce low-score experiences. Inbound interactions dominate demand, response delay is negatively associated with CSAT, and performance varies across shifts, tenure groups, channels and managers. The strongest improvement path is therefore operational: reduce avoidable delays, align staffing with demand, target weaker teams and channels, and use low-CSAT cases for focused root-cause analysis.</a:t>
            </a:r>
          </a:p>
          <a:p>
            <a:pPr>
              <a:defRPr sz="2000" b="1">
                <a:solidFill>
                  <a:srgbClr val="E0AB3F"/>
                </a:solidFill>
              </a:defRPr>
            </a:pPr>
            <a:r>
              <a:t>Overall objective: improve service consistency while protecting the existing high-CSAT base.</a:t>
            </a:r>
          </a:p>
        </p:txBody>
      </p:sp>
      <p:sp>
        <p:nvSpPr>
          <p:cNvPr id="5" name="TextBox 4"/>
          <p:cNvSpPr txBox="1"/>
          <p:nvPr/>
        </p:nvSpPr>
        <p:spPr>
          <a:xfrm>
            <a:off x="594360" y="6473952"/>
            <a:ext cx="10972800" cy="228600"/>
          </a:xfrm>
          <a:prstGeom prst="rect">
            <a:avLst/>
          </a:prstGeom>
          <a:noFill/>
        </p:spPr>
        <p:txBody>
          <a:bodyPr wrap="none">
            <a:spAutoFit/>
          </a:bodyPr>
          <a:lstStyle/>
          <a:p>
            <a:pPr>
              <a:defRPr sz="800">
                <a:solidFill>
                  <a:srgbClr val="5D6978"/>
                </a:solidFill>
              </a:defRPr>
            </a:pPr>
            <a:r>
              <a:t>Flipkart Project • Customer Support Analytics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TotalTime>
  <Words>1677</Words>
  <Application>Microsoft Office PowerPoint</Application>
  <PresentationFormat>Widescreen</PresentationFormat>
  <Paragraphs>178</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Sanketh S</dc:creator>
  <cp:keywords/>
  <dc:description>generated using python-pptx</dc:description>
  <cp:lastModifiedBy>Dhanush M Rao</cp:lastModifiedBy>
  <cp:revision>2</cp:revision>
  <dcterms:created xsi:type="dcterms:W3CDTF">2013-01-27T09:14:16Z</dcterms:created>
  <dcterms:modified xsi:type="dcterms:W3CDTF">2026-10-08T08:01:31Z</dcterms:modified>
  <cp:category/>
</cp:coreProperties>
</file>